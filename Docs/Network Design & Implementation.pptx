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chivo Black" panose="020B0A03020202020B04" pitchFamily="34" charset="77"/>
      <p:regular r:id=""/>
    </p:embeddedFont>
    <p:embeddedFont>
      <p:font typeface="Garet" pitchFamily="2" charset="77"/>
      <p:regular r:id=""/>
    </p:embeddedFont>
    <p:embeddedFont>
      <p:font typeface="Garet Bold" pitchFamily="2" charset="77"/>
      <p:regular r:id="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 autoAdjust="0"/>
    <p:restoredTop sz="94558" autoAdjust="0"/>
  </p:normalViewPr>
  <p:slideViewPr>
    <p:cSldViewPr>
      <p:cViewPr varScale="1">
        <p:scale>
          <a:sx n="69" d="100"/>
          <a:sy n="69" d="100"/>
        </p:scale>
        <p:origin x="82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DAE74-571F-5845-9D0B-699465B25F2D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56DF3-3705-B44B-A504-ACA1F5046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6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356DF3-3705-B44B-A504-ACA1F50465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40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7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2447807" y="4670081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8"/>
                </a:lnTo>
                <a:lnTo>
                  <a:pt x="0" y="946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60892" y="3828638"/>
            <a:ext cx="9373830" cy="540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048"/>
              </a:lnSpc>
              <a:spcBef>
                <a:spcPct val="0"/>
              </a:spcBef>
            </a:pPr>
            <a:r>
              <a:rPr lang="en-US" sz="4048" spc="-31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Behpaya Information Technology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26988" y="6246203"/>
            <a:ext cx="633681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2399" b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IE2100 - DATA COMMUNICATION WIRELESS NETWORKS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73199" y="1457325"/>
            <a:ext cx="15290599" cy="2304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NETWORK DESIGN &amp; 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9972" y="5569294"/>
            <a:ext cx="7493705" cy="283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Group Members: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582925" lvl="1" indent="-291463" algn="l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Bandara K.M.G.A.P. - PM</a:t>
            </a:r>
          </a:p>
          <a:p>
            <a:pPr marL="582925" lvl="1" indent="-291463" algn="l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Fernando C.J.S. - Wired Engineer</a:t>
            </a:r>
          </a:p>
          <a:p>
            <a:pPr marL="582925" lvl="1" indent="-291463" algn="l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Jayasena W.M.S.A. - Wireless Engineer</a:t>
            </a:r>
          </a:p>
          <a:p>
            <a:pPr marL="582925" lvl="1" indent="-291463" algn="l">
              <a:lnSpc>
                <a:spcPts val="3779"/>
              </a:lnSpc>
              <a:buAutoNum type="arabicPeriod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Dissanayeka N.K. - Secuirity Specialist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3" y="0"/>
                </a:lnTo>
                <a:lnTo>
                  <a:pt x="9125543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340492" y="1909763"/>
            <a:ext cx="6531462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Problem &amp; Our Goal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19768" y="2109679"/>
            <a:ext cx="8563734" cy="2590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Current Situation: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nearly 50 staff members  on two floors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Old mixed devices with no central management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Single 300Mbps internet link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4266" y="6151053"/>
            <a:ext cx="8563734" cy="205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Our Goal:</a:t>
            </a:r>
          </a:p>
          <a:p>
            <a:pPr marL="647694" lvl="1" indent="-32384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Build a secure, modern &amp; easy-to-manage network for today and the next 3-5 years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82445" y="1352958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899021" y="1318604"/>
            <a:ext cx="7206406" cy="7206406"/>
          </a:xfrm>
          <a:custGeom>
            <a:avLst/>
            <a:gdLst/>
            <a:ahLst/>
            <a:cxnLst/>
            <a:rect l="l" t="t" r="r" b="b"/>
            <a:pathLst>
              <a:path w="7206406" h="7206406">
                <a:moveTo>
                  <a:pt x="0" y="0"/>
                </a:moveTo>
                <a:lnTo>
                  <a:pt x="7206406" y="0"/>
                </a:lnTo>
                <a:lnTo>
                  <a:pt x="7206406" y="7206406"/>
                </a:lnTo>
                <a:lnTo>
                  <a:pt x="0" y="7206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52166" y="4073525"/>
            <a:ext cx="3430391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Wireless (Wi-Fi 6, 95% coverage at -65 dBm)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Deliver fast, reliable wireless connectivity to 95% of the office with a strong signal strength.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4134" y="4073525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7601" y="1129691"/>
            <a:ext cx="3852422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Wired (Gigabit Switches with PoE+)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High-speed wired connections and power over the same cable to devices like phones and access points.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129691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05427" y="4010723"/>
            <a:ext cx="4329158" cy="1615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208"/>
              </a:lnSpc>
              <a:spcBef>
                <a:spcPct val="0"/>
              </a:spcBef>
            </a:pPr>
            <a:r>
              <a:rPr lang="en-US" sz="6208" spc="-49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High-Level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569" y="7017359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6732" y="7017359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Security (Firewall + VPN + 802.1X login)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Bl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ocks external threats, a VPN allows secure remote access, and 802.1X login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57729" y="822007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1159450" y="8810621"/>
            <a:ext cx="712855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1159504" y="9374911"/>
            <a:ext cx="7128550" cy="8096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764767"/>
              </p:ext>
            </p:extLst>
          </p:nvPr>
        </p:nvGraphicFramePr>
        <p:xfrm>
          <a:off x="1028700" y="1719478"/>
          <a:ext cx="9136771" cy="8008190"/>
        </p:xfrm>
        <a:graphic>
          <a:graphicData uri="http://schemas.openxmlformats.org/drawingml/2006/table">
            <a:tbl>
              <a:tblPr/>
              <a:tblGrid>
                <a:gridCol w="339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8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2410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VLAN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Who / What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38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Staff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Normal 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201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Admin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IT team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7097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Guest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Internet only (no internal access)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992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40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Servers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Network Services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08338"/>
                  </a:ext>
                </a:extLst>
              </a:tr>
              <a:tr h="106639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VoIP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Office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8671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60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Printers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Network printers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07097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APs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Wireless management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28700" y="683473"/>
            <a:ext cx="7279037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Logical Layout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519538" y="662940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64964" y="5343986"/>
            <a:ext cx="5185171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VLANs :</a:t>
            </a:r>
          </a:p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Seperate Virtual Networks for safety</a:t>
            </a:r>
          </a:p>
        </p:txBody>
      </p:sp>
      <p:sp>
        <p:nvSpPr>
          <p:cNvPr id="10" name="Freeform 10"/>
          <p:cNvSpPr/>
          <p:nvPr/>
        </p:nvSpPr>
        <p:spPr>
          <a:xfrm rot="5400000">
            <a:off x="14006880" y="7537627"/>
            <a:ext cx="1641362" cy="2114167"/>
          </a:xfrm>
          <a:custGeom>
            <a:avLst/>
            <a:gdLst/>
            <a:ahLst/>
            <a:cxnLst/>
            <a:rect l="l" t="t" r="r" b="b"/>
            <a:pathLst>
              <a:path w="1641362" h="2114167">
                <a:moveTo>
                  <a:pt x="0" y="0"/>
                </a:moveTo>
                <a:lnTo>
                  <a:pt x="1641362" y="0"/>
                </a:lnTo>
                <a:lnTo>
                  <a:pt x="1641362" y="2114167"/>
                </a:lnTo>
                <a:lnTo>
                  <a:pt x="0" y="2114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Physical Layout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57268" y="5712804"/>
            <a:ext cx="6600670" cy="366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59"/>
              </a:lnSpc>
            </a:pPr>
            <a:r>
              <a:rPr lang="en-US" sz="28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Central Rack (First Floor)</a:t>
            </a:r>
          </a:p>
          <a:p>
            <a:pPr algn="l">
              <a:lnSpc>
                <a:spcPts val="4059"/>
              </a:lnSpc>
            </a:pPr>
            <a:endParaRPr lang="en-US" sz="28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r">
              <a:lnSpc>
                <a:spcPts val="4059"/>
              </a:lnSpc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Firewall</a:t>
            </a:r>
          </a:p>
          <a:p>
            <a:pPr algn="r">
              <a:lnSpc>
                <a:spcPts val="4059"/>
              </a:lnSpc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Servers</a:t>
            </a:r>
          </a:p>
          <a:p>
            <a:pPr algn="r">
              <a:lnSpc>
                <a:spcPts val="4059"/>
              </a:lnSpc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Core Switch</a:t>
            </a:r>
          </a:p>
          <a:p>
            <a:pPr algn="r">
              <a:lnSpc>
                <a:spcPts val="4059"/>
              </a:lnSpc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UPS</a:t>
            </a:r>
          </a:p>
          <a:p>
            <a:pPr algn="r">
              <a:lnSpc>
                <a:spcPts val="4059"/>
              </a:lnSpc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Patch Panels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249" y="1009650"/>
            <a:ext cx="7352549" cy="34009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28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Ground Floor:</a:t>
            </a:r>
          </a:p>
          <a:p>
            <a:pPr algn="l">
              <a:lnSpc>
                <a:spcPts val="3769"/>
              </a:lnSpc>
            </a:pPr>
            <a:endParaRPr lang="en-US" sz="28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626106" lvl="1" indent="-313053" algn="l">
              <a:lnSpc>
                <a:spcPts val="376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Switch 1 - Open Office, Reception</a:t>
            </a:r>
          </a:p>
          <a:p>
            <a:pPr marL="626106" lvl="1" indent="-313053" algn="l">
              <a:lnSpc>
                <a:spcPts val="376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Switch 2 - Meeting rooms, Printer area</a:t>
            </a:r>
          </a:p>
          <a:p>
            <a:pPr marL="626106" lvl="1" indent="-313053" algn="l">
              <a:lnSpc>
                <a:spcPts val="376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 Access Points - Lobby, Open Office, Meeting room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5249" y="5574374"/>
            <a:ext cx="7630551" cy="2913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69"/>
              </a:lnSpc>
            </a:pPr>
            <a:r>
              <a:rPr lang="en-US" sz="28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First Floor:</a:t>
            </a:r>
          </a:p>
          <a:p>
            <a:pPr algn="l">
              <a:lnSpc>
                <a:spcPts val="3769"/>
              </a:lnSpc>
            </a:pPr>
            <a:endParaRPr lang="en-US" sz="28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626106" lvl="1" indent="-313053" algn="l">
              <a:lnSpc>
                <a:spcPts val="376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Switch 1 - Open Office, Admin Office</a:t>
            </a:r>
          </a:p>
          <a:p>
            <a:pPr marL="626106" lvl="1" indent="-313053" algn="l">
              <a:lnSpc>
                <a:spcPts val="376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Switch 2 – Boardroom, Printer area</a:t>
            </a:r>
          </a:p>
          <a:p>
            <a:pPr marL="626106" lvl="1" indent="-313053" algn="l">
              <a:lnSpc>
                <a:spcPts val="376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 Access Points - Open office, Admin, Boardroom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675813" y="3086100"/>
            <a:ext cx="5744010" cy="4114800"/>
          </a:xfrm>
          <a:custGeom>
            <a:avLst/>
            <a:gdLst/>
            <a:ahLst/>
            <a:cxnLst/>
            <a:rect l="l" t="t" r="r" b="b"/>
            <a:pathLst>
              <a:path w="5744010" h="4114800">
                <a:moveTo>
                  <a:pt x="0" y="0"/>
                </a:moveTo>
                <a:lnTo>
                  <a:pt x="5744010" y="0"/>
                </a:lnTo>
                <a:lnTo>
                  <a:pt x="5744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67082" y="1009650"/>
            <a:ext cx="811530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Wired Network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7082" y="2365608"/>
            <a:ext cx="8076918" cy="108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1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 Access Switches (Cisco 2960)</a:t>
            </a:r>
          </a:p>
          <a:p>
            <a:pPr marL="2374897" lvl="5" indent="-395816" algn="l">
              <a:lnSpc>
                <a:spcPts val="2815"/>
              </a:lnSpc>
              <a:buFont typeface="Arial"/>
              <a:buChar char="⚬"/>
            </a:pPr>
            <a:r>
              <a:rPr lang="en-US" sz="2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Connects all the desktops and phones.</a:t>
            </a:r>
          </a:p>
          <a:p>
            <a:pPr algn="l">
              <a:lnSpc>
                <a:spcPts val="2688"/>
              </a:lnSpc>
            </a:pPr>
            <a:endParaRPr lang="en-US" sz="2199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767455"/>
            <a:ext cx="766415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 Core switch</a:t>
            </a:r>
          </a:p>
          <a:p>
            <a:pPr marL="2374897" lvl="5" indent="-395816" algn="l">
              <a:lnSpc>
                <a:spcPts val="2859"/>
              </a:lnSpc>
              <a:buFont typeface="Arial"/>
              <a:buChar char="⚬"/>
            </a:pPr>
            <a:r>
              <a:rPr lang="en-US" sz="2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Connects everything together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7082" y="5440169"/>
            <a:ext cx="766415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24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Trunk Links</a:t>
            </a:r>
          </a:p>
          <a:p>
            <a:pPr marL="2374897" lvl="5" indent="-395816" algn="l">
              <a:lnSpc>
                <a:spcPts val="2859"/>
              </a:lnSpc>
              <a:buFont typeface="Arial"/>
              <a:buChar char="⚬"/>
            </a:pPr>
            <a:r>
              <a:rPr lang="en-US" sz="2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Carry all VLANS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112861"/>
            <a:ext cx="7664150" cy="77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24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Port Security</a:t>
            </a:r>
          </a:p>
          <a:p>
            <a:pPr marL="2374897" lvl="5" indent="-395816" algn="l">
              <a:lnSpc>
                <a:spcPts val="2859"/>
              </a:lnSpc>
              <a:buFont typeface="Arial"/>
              <a:buChar char="⚬"/>
            </a:pPr>
            <a:r>
              <a:rPr lang="en-US" sz="21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Only approved devices can plug 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06/12</a:t>
            </a:r>
          </a:p>
        </p:txBody>
      </p:sp>
      <p:sp>
        <p:nvSpPr>
          <p:cNvPr id="10" name="Freeform 10"/>
          <p:cNvSpPr/>
          <p:nvPr/>
        </p:nvSpPr>
        <p:spPr>
          <a:xfrm>
            <a:off x="9144000" y="455960"/>
            <a:ext cx="2008120" cy="1781750"/>
          </a:xfrm>
          <a:custGeom>
            <a:avLst/>
            <a:gdLst/>
            <a:ahLst/>
            <a:cxnLst/>
            <a:rect l="l" t="t" r="r" b="b"/>
            <a:pathLst>
              <a:path w="2008120" h="1781750">
                <a:moveTo>
                  <a:pt x="0" y="0"/>
                </a:moveTo>
                <a:lnTo>
                  <a:pt x="2008120" y="0"/>
                </a:lnTo>
                <a:lnTo>
                  <a:pt x="2008120" y="1781750"/>
                </a:lnTo>
                <a:lnTo>
                  <a:pt x="0" y="178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675813" y="296893"/>
            <a:ext cx="2008120" cy="1781750"/>
          </a:xfrm>
          <a:custGeom>
            <a:avLst/>
            <a:gdLst/>
            <a:ahLst/>
            <a:cxnLst/>
            <a:rect l="l" t="t" r="r" b="b"/>
            <a:pathLst>
              <a:path w="2008120" h="1781750">
                <a:moveTo>
                  <a:pt x="0" y="0"/>
                </a:moveTo>
                <a:lnTo>
                  <a:pt x="2008120" y="0"/>
                </a:lnTo>
                <a:lnTo>
                  <a:pt x="2008120" y="1781749"/>
                </a:lnTo>
                <a:lnTo>
                  <a:pt x="0" y="17817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524531" y="2607798"/>
          <a:ext cx="8693835" cy="6973473"/>
        </p:xfrm>
        <a:graphic>
          <a:graphicData uri="http://schemas.openxmlformats.org/drawingml/2006/table">
            <a:tbl>
              <a:tblPr/>
              <a:tblGrid>
                <a:gridCol w="2897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4336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SSID (Network name)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Who uses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079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Behpaya_Corp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Staff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WPA3-Enterprise + username/password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865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Behpaya_Admin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IT team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Same + extra MFA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336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Behpaya_Guest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Visitors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Captive portal (accept terms)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 rot="-8035418">
            <a:off x="9694848" y="9023250"/>
            <a:ext cx="1047033" cy="1047033"/>
          </a:xfrm>
          <a:custGeom>
            <a:avLst/>
            <a:gdLst/>
            <a:ahLst/>
            <a:cxnLst/>
            <a:rect l="l" t="t" r="r" b="b"/>
            <a:pathLst>
              <a:path w="1047033" h="1047033">
                <a:moveTo>
                  <a:pt x="0" y="0"/>
                </a:moveTo>
                <a:lnTo>
                  <a:pt x="1047033" y="0"/>
                </a:lnTo>
                <a:lnTo>
                  <a:pt x="1047033" y="1047033"/>
                </a:lnTo>
                <a:lnTo>
                  <a:pt x="0" y="1047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233766" y="3614146"/>
            <a:ext cx="4022740" cy="4960778"/>
          </a:xfrm>
          <a:custGeom>
            <a:avLst/>
            <a:gdLst/>
            <a:ahLst/>
            <a:cxnLst/>
            <a:rect l="l" t="t" r="r" b="b"/>
            <a:pathLst>
              <a:path w="4022740" h="4960778">
                <a:moveTo>
                  <a:pt x="0" y="0"/>
                </a:moveTo>
                <a:lnTo>
                  <a:pt x="4022740" y="0"/>
                </a:lnTo>
                <a:lnTo>
                  <a:pt x="4022740" y="4960778"/>
                </a:lnTo>
                <a:lnTo>
                  <a:pt x="0" y="4960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67082" y="1009650"/>
            <a:ext cx="9608731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Wireless Network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679282" y="11322"/>
            <a:ext cx="2448511" cy="3858685"/>
          </a:xfrm>
          <a:custGeom>
            <a:avLst/>
            <a:gdLst/>
            <a:ahLst/>
            <a:cxnLst/>
            <a:rect l="l" t="t" r="r" b="b"/>
            <a:pathLst>
              <a:path w="2448511" h="3858685">
                <a:moveTo>
                  <a:pt x="0" y="0"/>
                </a:moveTo>
                <a:lnTo>
                  <a:pt x="2448511" y="0"/>
                </a:lnTo>
                <a:lnTo>
                  <a:pt x="2448511" y="3858685"/>
                </a:lnTo>
                <a:lnTo>
                  <a:pt x="0" y="3858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721846" y="4695821"/>
            <a:ext cx="3276877" cy="4114800"/>
          </a:xfrm>
          <a:custGeom>
            <a:avLst/>
            <a:gdLst/>
            <a:ahLst/>
            <a:cxnLst/>
            <a:rect l="l" t="t" r="r" b="b"/>
            <a:pathLst>
              <a:path w="3276877" h="4114800">
                <a:moveTo>
                  <a:pt x="0" y="0"/>
                </a:moveTo>
                <a:lnTo>
                  <a:pt x="3276877" y="0"/>
                </a:lnTo>
                <a:lnTo>
                  <a:pt x="32768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504614" y="1302068"/>
            <a:ext cx="7203393" cy="91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8"/>
              </a:lnSpc>
            </a:pPr>
            <a:r>
              <a:rPr lang="en-US" sz="6808" spc="-53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Security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190778"/>
            <a:ext cx="9622712" cy="378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Firewall (FortiGate 80F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) - Blocks viruses, bad websites &amp; attacks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VPN with MFA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Remote staff connects safely using phone verification.</a:t>
            </a: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802.1x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users must log in before accessing the network.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Rogue AP Detection</a:t>
            </a: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- Alerts if someone plugs in a fake WiFI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16354" y="3605493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2" y="0"/>
                </a:lnTo>
                <a:lnTo>
                  <a:pt x="624692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16354" y="5076347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2" y="0"/>
                </a:lnTo>
                <a:lnTo>
                  <a:pt x="624692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6354" y="6546239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2" y="0"/>
                </a:lnTo>
                <a:lnTo>
                  <a:pt x="624692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16354" y="2134639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2" y="0"/>
                </a:lnTo>
                <a:lnTo>
                  <a:pt x="624692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055907" y="1882249"/>
            <a:ext cx="7203393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Management &amp; Monitoring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09/12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1578174" y="3508428"/>
            <a:ext cx="6709826" cy="5270264"/>
          </a:xfrm>
          <a:custGeom>
            <a:avLst/>
            <a:gdLst/>
            <a:ahLst/>
            <a:cxnLst/>
            <a:rect l="l" t="t" r="r" b="b"/>
            <a:pathLst>
              <a:path w="6709826" h="5270264">
                <a:moveTo>
                  <a:pt x="0" y="0"/>
                </a:moveTo>
                <a:lnTo>
                  <a:pt x="6709826" y="0"/>
                </a:lnTo>
                <a:lnTo>
                  <a:pt x="6709826" y="5270263"/>
                </a:lnTo>
                <a:lnTo>
                  <a:pt x="0" y="52702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31164" y="2070028"/>
            <a:ext cx="8424743" cy="563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Syslog Server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Collects all logs</a:t>
            </a: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SNMP Alerts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Emails when switch CPU uses more than 80%</a:t>
            </a: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Daily Config Backups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Can restore within minutes</a:t>
            </a: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Admin Guide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Simple steps to add or remove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260453" y="8157440"/>
            <a:ext cx="13838306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15246455" y="6959318"/>
            <a:ext cx="1629446" cy="2396244"/>
          </a:xfrm>
          <a:custGeom>
            <a:avLst/>
            <a:gdLst/>
            <a:ahLst/>
            <a:cxnLst/>
            <a:rect l="l" t="t" r="r" b="b"/>
            <a:pathLst>
              <a:path w="1629446" h="2396244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29441" y="7967064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402121" y="7967064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463823" y="7967064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521225" y="7967064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8978572" y="1484842"/>
          <a:ext cx="7371141" cy="5762625"/>
        </p:xfrm>
        <a:graphic>
          <a:graphicData uri="http://schemas.openxmlformats.org/drawingml/2006/table">
            <a:tbl>
              <a:tblPr/>
              <a:tblGrid>
                <a:gridCol w="3685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595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Cost (LKR)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958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Firewall + 3yr 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720,000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903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Switches (1 core + 4 access)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930,000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6903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6 Wi-Fi APs + 3yr cloud license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822,000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6903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Cabling, racks, UPS, installation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552,000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028700" y="1162887"/>
            <a:ext cx="8115300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Budget &amp; 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701876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8464821"/>
            <a:ext cx="2277734" cy="1177392"/>
            <a:chOff x="0" y="0"/>
            <a:chExt cx="3036979" cy="156985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1st Week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Cabling &amp; mounting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05388" y="8464821"/>
            <a:ext cx="2277734" cy="1177392"/>
            <a:chOff x="0" y="0"/>
            <a:chExt cx="3036979" cy="1569856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2nd Week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Switches &amp; VLANs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78572" y="8645796"/>
            <a:ext cx="2277734" cy="815442"/>
            <a:chOff x="0" y="0"/>
            <a:chExt cx="3036979" cy="1087256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3rd Week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622859"/>
              <a:ext cx="3036979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Wi-Fi &amp; Firewall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135338" y="8442858"/>
            <a:ext cx="4123962" cy="815442"/>
            <a:chOff x="0" y="0"/>
            <a:chExt cx="5498615" cy="1087256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28575"/>
              <a:ext cx="5498615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4th Week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622859"/>
              <a:ext cx="5498615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Testing &amp; Trainig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1129441" y="2134495"/>
            <a:ext cx="6494248" cy="2231660"/>
          </a:xfrm>
          <a:custGeom>
            <a:avLst/>
            <a:gdLst/>
            <a:ahLst/>
            <a:cxnLst/>
            <a:rect l="l" t="t" r="r" b="b"/>
            <a:pathLst>
              <a:path w="6494248" h="2231660">
                <a:moveTo>
                  <a:pt x="0" y="0"/>
                </a:moveTo>
                <a:lnTo>
                  <a:pt x="6494248" y="0"/>
                </a:lnTo>
                <a:lnTo>
                  <a:pt x="6494248" y="2231659"/>
                </a:lnTo>
                <a:lnTo>
                  <a:pt x="0" y="22316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2575268" y="5105400"/>
            <a:ext cx="5529585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Total estimated cost  =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               3,024,000 LKR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-216738" y="569105"/>
            <a:ext cx="10288672" cy="8081284"/>
          </a:xfrm>
          <a:custGeom>
            <a:avLst/>
            <a:gdLst/>
            <a:ahLst/>
            <a:cxnLst/>
            <a:rect l="l" t="t" r="r" b="b"/>
            <a:pathLst>
              <a:path w="10288672" h="8081284">
                <a:moveTo>
                  <a:pt x="0" y="0"/>
                </a:moveTo>
                <a:lnTo>
                  <a:pt x="10288672" y="0"/>
                </a:lnTo>
                <a:lnTo>
                  <a:pt x="10288672" y="8081284"/>
                </a:lnTo>
                <a:lnTo>
                  <a:pt x="0" y="808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643936" y="410037"/>
          <a:ext cx="7315200" cy="8429625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3802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What we do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Pass mark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30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Every device replies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430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VLAN isolation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Guest tries to ping Staff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Fails 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430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Wi-Fi signal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Walk around with laptop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≥ -65 dBm everywhere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430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Roaming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Video call while walking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No disconnect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430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Firewall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Try to visit banned site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Blocked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4304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VPN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Connect from outside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Works + MFA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0921" y="662940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11/12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288" y="2879798"/>
            <a:ext cx="7203393" cy="172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08"/>
              </a:lnSpc>
            </a:pPr>
            <a:r>
              <a:rPr lang="en-US" sz="6608" spc="-52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Testing &amp; Acceptance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3114998"/>
            <a:ext cx="7628465" cy="1508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2"/>
              </a:lnSpc>
            </a:pPr>
            <a:r>
              <a:rPr lang="en-US" sz="7208" spc="-56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Choose Our Proporsal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12/12</a:t>
            </a:r>
            <a:endParaRPr lang="en-US" sz="2099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-585133" y="8456185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508253"/>
            <a:ext cx="5486201" cy="2144606"/>
          </a:xfrm>
          <a:custGeom>
            <a:avLst/>
            <a:gdLst/>
            <a:ahLst/>
            <a:cxnLst/>
            <a:rect l="l" t="t" r="r" b="b"/>
            <a:pathLst>
              <a:path w="5486201" h="2144606">
                <a:moveTo>
                  <a:pt x="0" y="0"/>
                </a:moveTo>
                <a:lnTo>
                  <a:pt x="5486201" y="0"/>
                </a:lnTo>
                <a:lnTo>
                  <a:pt x="5486201" y="2144606"/>
                </a:lnTo>
                <a:lnTo>
                  <a:pt x="0" y="21446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400000">
            <a:off x="4835564" y="691449"/>
            <a:ext cx="2612047" cy="1310773"/>
          </a:xfrm>
          <a:custGeom>
            <a:avLst/>
            <a:gdLst/>
            <a:ahLst/>
            <a:cxnLst/>
            <a:rect l="l" t="t" r="r" b="b"/>
            <a:pathLst>
              <a:path w="2612047" h="1310773">
                <a:moveTo>
                  <a:pt x="0" y="0"/>
                </a:moveTo>
                <a:lnTo>
                  <a:pt x="2612047" y="0"/>
                </a:lnTo>
                <a:lnTo>
                  <a:pt x="2612047" y="1310773"/>
                </a:lnTo>
                <a:lnTo>
                  <a:pt x="0" y="1310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519584" y="1523406"/>
            <a:ext cx="8895398" cy="605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9"/>
              </a:lnSpc>
            </a:pPr>
            <a:r>
              <a:rPr lang="en-US" sz="313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1.Secure</a:t>
            </a:r>
          </a:p>
          <a:p>
            <a:pPr algn="just">
              <a:lnSpc>
                <a:spcPts val="4389"/>
              </a:lnSpc>
            </a:pPr>
            <a:r>
              <a:rPr lang="en-US" sz="31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Firewall, VPN, 802.1X, Guest isolation</a:t>
            </a:r>
          </a:p>
          <a:p>
            <a:pPr algn="just">
              <a:lnSpc>
                <a:spcPts val="4389"/>
              </a:lnSpc>
            </a:pPr>
            <a:endParaRPr lang="en-US" sz="3135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389"/>
              </a:lnSpc>
            </a:pPr>
            <a:r>
              <a:rPr lang="en-US" sz="313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2.Reliable</a:t>
            </a:r>
          </a:p>
          <a:p>
            <a:pPr algn="just">
              <a:lnSpc>
                <a:spcPts val="4389"/>
              </a:lnSpc>
            </a:pPr>
            <a:r>
              <a:rPr lang="en-US" sz="31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Managed switches, Wi-Fi 6, Daily backups</a:t>
            </a:r>
          </a:p>
          <a:p>
            <a:pPr algn="just">
              <a:lnSpc>
                <a:spcPts val="4389"/>
              </a:lnSpc>
            </a:pPr>
            <a:endParaRPr lang="en-US" sz="3135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389"/>
              </a:lnSpc>
            </a:pPr>
            <a:r>
              <a:rPr lang="en-US" sz="313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3.Simple</a:t>
            </a:r>
          </a:p>
          <a:p>
            <a:pPr algn="just">
              <a:lnSpc>
                <a:spcPts val="4389"/>
              </a:lnSpc>
            </a:pPr>
            <a:r>
              <a:rPr lang="en-US" sz="31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One NMs dashboard, 2 hour training</a:t>
            </a:r>
          </a:p>
          <a:p>
            <a:pPr algn="just">
              <a:lnSpc>
                <a:spcPts val="4389"/>
              </a:lnSpc>
            </a:pPr>
            <a:endParaRPr lang="en-US" sz="3135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389"/>
              </a:lnSpc>
            </a:pPr>
            <a:r>
              <a:rPr lang="en-US" sz="313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4.Future - Proof</a:t>
            </a:r>
          </a:p>
          <a:p>
            <a:pPr algn="just">
              <a:lnSpc>
                <a:spcPts val="4389"/>
              </a:lnSpc>
              <a:spcBef>
                <a:spcPct val="0"/>
              </a:spcBef>
            </a:pPr>
            <a:r>
              <a:rPr lang="en-US" sz="313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Scales up to 150 staff without new hardware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940607" y="2727904"/>
            <a:ext cx="7203393" cy="772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6808" spc="-53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</a:p>
        </p:txBody>
      </p:sp>
      <p:sp>
        <p:nvSpPr>
          <p:cNvPr id="5" name="AutoShape 5"/>
          <p:cNvSpPr/>
          <p:nvPr/>
        </p:nvSpPr>
        <p:spPr>
          <a:xfrm>
            <a:off x="-585133" y="8434131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-585133" y="9339262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800000">
            <a:off x="2446260" y="3500629"/>
            <a:ext cx="3493612" cy="1759510"/>
          </a:xfrm>
          <a:custGeom>
            <a:avLst/>
            <a:gdLst/>
            <a:ahLst/>
            <a:cxnLst/>
            <a:rect l="l" t="t" r="r" b="b"/>
            <a:pathLst>
              <a:path w="3493612" h="1759510">
                <a:moveTo>
                  <a:pt x="0" y="0"/>
                </a:moveTo>
                <a:lnTo>
                  <a:pt x="3493612" y="0"/>
                </a:lnTo>
                <a:lnTo>
                  <a:pt x="3493612" y="1759510"/>
                </a:lnTo>
                <a:lnTo>
                  <a:pt x="0" y="175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649</Words>
  <Application>Microsoft Macintosh PowerPoint</Application>
  <PresentationFormat>Custom</PresentationFormat>
  <Paragraphs>179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Garet Bold</vt:lpstr>
      <vt:lpstr>Archivo Black</vt:lpstr>
      <vt:lpstr>Arial</vt:lpstr>
      <vt:lpstr>Calibri</vt:lpstr>
      <vt:lpstr>Aptos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Design &amp; Implementation</dc:title>
  <cp:lastModifiedBy>Jayasena W.M.S.A. IT24100816</cp:lastModifiedBy>
  <cp:revision>5</cp:revision>
  <dcterms:created xsi:type="dcterms:W3CDTF">2006-08-16T00:00:00Z</dcterms:created>
  <dcterms:modified xsi:type="dcterms:W3CDTF">2026-05-03T05:18:40Z</dcterms:modified>
  <dc:identifier>DAHIbHn9fW4</dc:identifier>
</cp:coreProperties>
</file>